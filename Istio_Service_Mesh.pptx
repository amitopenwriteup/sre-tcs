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377440"/>
            <a:ext cx="6858000" cy="6858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754880" cy="47548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5120640" cy="512064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Istio: Architecture, Traffic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&amp; Security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problems a mesh solves to a hands-on canary rollout lab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76072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76072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576072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576072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Mgmt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5760720"/>
            <a:ext cx="1924812" cy="420624"/>
          </a:xfrm>
          <a:prstGeom prst="roundRect">
            <a:avLst>
              <a:gd name="adj" fmla="val 50000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5760720"/>
            <a:ext cx="19248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Policy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66460" y="576072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6460" y="576072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path from concepts to a working canary deployment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200253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Service Mesh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3317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 Istio solves, plus its control-plane / data-plane architecture and installation.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011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0" y="200253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23317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VirtualServices, DestinationRules, Gateways, traffic splitting, canaries, and fault injection.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192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33101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Policy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mTLS, PeerAuthentication, AuthorizationPolicies, and service identity fundamentals.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182112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3192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33101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363931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Istio into a sample app and configure a live canary rollout.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 Why a Service Mesh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Istio Solves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0136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service-to-service calls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timeouts, circuit breaking, and load balancing become hand-rolled in every service without a mesh.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68" y="18013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327648" y="180136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7647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uniform traffic 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73368" y="2377440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releases, A/B tests, and traffic shifting require code changes instead of declarative config.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566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5661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⛨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52958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Weak, inconsistent 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4142232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traffic and enforcing who can call whom is left to each team to implement separately.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364992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566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35661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352958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observability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3368" y="4142232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error rates, and traffic flow between services are hard to see without custom instrumentation.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919472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9194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moves these concerns out of application code and into a uniform, policy-driven infrastructure layer.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 Istio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(istiod) + Data Plane (Envoy Sidecars)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023360" y="169164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0" y="1801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istiod  —  Control Plane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2194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(config/routing) • Citadel (certs/identity) • Galley (config validation)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59836" y="2926080"/>
            <a:ext cx="0" cy="105156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94476" y="2926080"/>
            <a:ext cx="0" cy="105156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929116" y="2926080"/>
            <a:ext cx="0" cy="105156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93976" y="3977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 w="15875">
            <a:solidFill>
              <a:srgbClr val="DCE4E9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093976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 Pod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22576" y="4416552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44165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Container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22576" y="489204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2322576" y="4892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Sidecar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28616" y="3977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 w="15875">
            <a:solidFill>
              <a:srgbClr val="DCE4E9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928616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 Pod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57216" y="4416552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7216" y="44165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Container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57216" y="489204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157216" y="4892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Sidecar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63256" y="3977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 w="15875">
            <a:solidFill>
              <a:srgbClr val="DCE4E9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763256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 Pod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91856" y="4416552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91856" y="44165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Container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91856" y="489204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991856" y="4892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Sidecar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istiod pushes configuration and certificates to every Envoy proxy; all service traffic flows through the sidecar, never directly between app containers.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 Installation &amp; Sidecar Injection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istiod running and adding Envoy to your workloads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148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1488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084832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control plane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3440" y="2084832"/>
            <a:ext cx="67939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istioctl install --set profile=demo deploys istiod and default gateways to the cluster.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31821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1821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118104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namespace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3118104"/>
            <a:ext cx="67939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label namespace default istio-injection=enabled marks it for automatic sidecar injection.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21538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21538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15137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or restart workloads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63440" y="4151376"/>
            <a:ext cx="67939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pods automatically get an Envoy container injected alongside the application container.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6577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24865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524865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184648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mesh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63440" y="5184648"/>
            <a:ext cx="67939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istioctl proxy-status confirms every pod's sidecar is synced with istiod.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743200"/>
            <a:ext cx="6858000" cy="6858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3840480"/>
            <a:ext cx="5120640" cy="51206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E7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rules, gateways, and progressive delivery with Istio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 VirtualServices &amp; DestinationRules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building blocks of Istio routing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47672"/>
            <a:ext cx="5257800" cy="2468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VirtualService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500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requests are routed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4800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host names / paths to one or more destinations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traffic by weight across subsets (canary %)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retries, timeouts, and header-based match rules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fault injection (delays, aborts) for testing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9164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1947672"/>
            <a:ext cx="5257800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6916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DestinationRule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3500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destination's POLICY &amp; subsets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4800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subsets (e.g. version: v1, version: v2)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load-balancing policy (round robin, least conn)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connection pool &amp; outlier detection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TLS settings for reaching the destination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 Gateways: Ingress &amp; Egress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traffic at the edge of the mesh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5B6B7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3520440"/>
            <a:ext cx="82296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29718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971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Gateway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520440"/>
            <a:ext cx="82296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0" y="278892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58368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Services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315468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(Envoy)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3520440"/>
            <a:ext cx="822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966960" y="297180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0" y="29718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50040" y="3108960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External</a:t>
            </a:r>
            <a:endParaRPr lang="en-US" sz="100" dirty="0"/>
          </a:p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Services</a:t>
            </a:r>
            <a:endParaRPr lang="en-US" sz="1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Gateway: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external traffic entering the mesh; paired with a VirtualService to route it to internal services.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4709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Gateway: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outbound calls to external services through a controlled, monitored exit point.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 Canary Releases &amp; Fault Injection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traffic gradually and testing resilience on purpose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Traffic Split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608576" cy="502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157216" y="2057400"/>
            <a:ext cx="512064" cy="502920"/>
          </a:xfrm>
          <a:prstGeom prst="roundRect">
            <a:avLst/>
          </a:prstGeom>
          <a:solidFill>
            <a:srgbClr val="F9A8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57400"/>
            <a:ext cx="4608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90%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06440" y="2057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7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10%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route.subset: v1 (weight: 90) / v2 (weight: 10) — shift weight incrementally as confidence grows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1968" y="189280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892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23760" y="22860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delay: inject latency to test timeout handling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abort: return HTTP errors to test failure paths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Flow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315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3232" y="47091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v2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v1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063240" y="4914900"/>
            <a:ext cx="256032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19272" y="42062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483864" y="4315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83864" y="47091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small %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to v2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33872" y="4914900"/>
            <a:ext cx="256032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89904" y="42062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254496" y="4315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54496" y="47091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metrics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error rates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604504" y="4914900"/>
            <a:ext cx="256032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860536" y="42062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9025128" y="4315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025128" y="47091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weight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100% v2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743200"/>
            <a:ext cx="6858000" cy="6858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3840480"/>
            <a:ext cx="5120640" cy="51206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E7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Policy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traffic and enforcing who can talk to whom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 mTLS &amp; PeerAuthentication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and authenticating service-to-service traffic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33172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897112" y="1920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25712" y="233172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25712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2377440"/>
            <a:ext cx="5605272" cy="0"/>
          </a:xfrm>
          <a:prstGeom prst="line">
            <a:avLst/>
          </a:prstGeom>
          <a:noFill/>
          <a:ln w="28575">
            <a:solidFill>
              <a:srgbClr val="065A82"/>
            </a:solidFill>
            <a:prstDash val="dash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2121408"/>
            <a:ext cx="2743200" cy="51206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1214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Encrypted Channel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5284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1528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337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certificate issuance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33375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istiod (Citadel) issues and rotates short-lived X.509 certs to every sidecar — no manual PKI work.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29684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2968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2519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PeerAuthentication policy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0" y="42519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namespace- or mesh-wide policy sets mTLS mode: STRICT, PERMISSIVE, or DISABLE.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244084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24408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5166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app code changes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0" y="51663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and identity checks happen in the Envoy proxy, transparent to the application.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 AuthorizationPolicies &amp; Identity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who can call whom, and how services prove identity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47672"/>
            <a:ext cx="5257800" cy="2468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AuthorizationPolicy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DENY rules scoped to workload selectors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 source identity, namespace, or IP range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 request paths, methods, or headers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model: nothing is allowed unless a rule permits 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69164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947672"/>
            <a:ext cx="5257800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6916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Identity Basics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42316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workload gets a SPIFFE identity, e.g. spiffe://cluster.local/ns/default/sa/reviews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tied to the Kubernetes ServiceAccount, not the IP address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into the mTLS certificate and checked on every call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AuthorizationPolicies reference this identity to grant or deny access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743200"/>
            <a:ext cx="6858000" cy="6858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3840480"/>
            <a:ext cx="5120640" cy="51206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E7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the mesh and drive a live canary rollout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 Hands-on Lab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exercises to build muscle memory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1: Inject Istio into a Sample 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709160" cy="2651760"/>
          </a:xfrm>
          <a:prstGeom prst="roundRect">
            <a:avLst>
              <a:gd name="adj" fmla="val 206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788920"/>
            <a:ext cx="4343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label namespace default \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istio-injection=enabled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samples/bookinfo/\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platform/kube/bookinfo.yaml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pod shows 2/2 containers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istioctl proxy-status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4F8FA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9476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189280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2: Configure a Canary Rollout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2651760"/>
            <a:ext cx="4709160" cy="2651760"/>
          </a:xfrm>
          <a:prstGeom prst="roundRect">
            <a:avLst>
              <a:gd name="adj" fmla="val 2069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724912"/>
            <a:ext cx="4343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networking.istio.io/v1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VirtualService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name: reviews }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[reviews]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route: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destination: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host: reviews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subset: v1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weight: 90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destination: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host: reviews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subset: v2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weight: 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Deep Dive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2026-08-09T01:38:36Z</dcterms:created>
  <dcterms:modified xsi:type="dcterms:W3CDTF">2026-08-09T01:38:36Z</dcterms:modified>
</cp:coreProperties>
</file>