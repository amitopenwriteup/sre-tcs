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ISTIO TRAFFIC MANAGEMENT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265176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Gateway, VirtualService,</a:t>
            </a:r>
            <a:endParaRPr lang="en-US" sz="3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DestinationRule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44348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explanation of the three objects that control how traffic reaches your services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Istio Traffic Management Basics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Traffic Passes Through Three Layers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object controls a different part of the journey a request takes, from outside the cluster to a specific pod.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39496" y="2286000"/>
            <a:ext cx="1965960" cy="822960"/>
          </a:xfrm>
          <a:prstGeom prst="rect">
            <a:avLst/>
          </a:prstGeom>
          <a:solidFill>
            <a:srgbClr val="F2F2F2"/>
          </a:solidFill>
          <a:ln w="15875">
            <a:solidFill>
              <a:srgbClr val="D5D9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9496" y="228600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05456" y="2697480"/>
            <a:ext cx="320040" cy="0"/>
          </a:xfrm>
          <a:prstGeom prst="line">
            <a:avLst/>
          </a:prstGeom>
          <a:noFill/>
          <a:ln w="19050">
            <a:solidFill>
              <a:srgbClr val="5B6B73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825496" y="2286000"/>
            <a:ext cx="1965960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9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25496" y="228600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91456" y="2697480"/>
            <a:ext cx="320040" cy="0"/>
          </a:xfrm>
          <a:prstGeom prst="line">
            <a:avLst/>
          </a:prstGeom>
          <a:noFill/>
          <a:ln w="19050">
            <a:solidFill>
              <a:srgbClr val="5B6B73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111496" y="2286000"/>
            <a:ext cx="1965960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9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11496" y="228600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VirtualService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077456" y="2697480"/>
            <a:ext cx="320040" cy="0"/>
          </a:xfrm>
          <a:prstGeom prst="line">
            <a:avLst/>
          </a:prstGeom>
          <a:noFill/>
          <a:ln w="19050">
            <a:solidFill>
              <a:srgbClr val="5B6B73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397496" y="2286000"/>
            <a:ext cx="1965960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9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97496" y="228600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DestinationRule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363456" y="2697480"/>
            <a:ext cx="320040" cy="0"/>
          </a:xfrm>
          <a:prstGeom prst="line">
            <a:avLst/>
          </a:prstGeom>
          <a:noFill/>
          <a:ln w="19050">
            <a:solidFill>
              <a:srgbClr val="5B6B73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683496" y="2286000"/>
            <a:ext cx="1965960" cy="822960"/>
          </a:xfrm>
          <a:prstGeom prst="rect">
            <a:avLst/>
          </a:prstGeom>
          <a:solidFill>
            <a:srgbClr val="F2F2F2"/>
          </a:solidFill>
          <a:ln w="15875">
            <a:solidFill>
              <a:srgbClr val="D5D9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83496" y="228600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(v1 / v2 / v3)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825496" y="333756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 for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traffic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111496" y="333756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rules: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requests go where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397496" y="333756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Subsets &amp; policies: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reach each version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Istio Traffic Management Basics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Gateway — the Front Door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212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Gateway configures the load balancer at the edge of the mesh. It opens ports and terminates TLS for traffic entering (or leaving) the cluster — but on its own, it doesn't know where to send requests.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3566160"/>
            <a:ext cx="52120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at the edge of the mesh, not inside it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which ports/hosts/protocols are exposed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TLS termination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 VirtualService bound to it to actually route traffic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0" y="1554480"/>
            <a:ext cx="5212080" cy="4480560"/>
          </a:xfrm>
          <a:prstGeom prst="rect">
            <a:avLst/>
          </a:prstGeom>
          <a:ln w="12700">
            <a:solidFill>
              <a:srgbClr val="D5D9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2103120"/>
            <a:ext cx="1828800" cy="731520"/>
          </a:xfrm>
          <a:prstGeom prst="rect">
            <a:avLst/>
          </a:prstGeom>
          <a:solidFill>
            <a:srgbClr val="F2F2F2"/>
          </a:solidFill>
          <a:ln w="12700">
            <a:solidFill>
              <a:srgbClr val="D5D9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21031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686800" y="2468880"/>
            <a:ext cx="914400" cy="0"/>
          </a:xfrm>
          <a:prstGeom prst="line">
            <a:avLst/>
          </a:prstGeom>
          <a:noFill/>
          <a:ln w="19050">
            <a:solidFill>
              <a:srgbClr val="5B6B7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601200" y="2103120"/>
            <a:ext cx="146304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D5D9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0" y="210312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332720" y="2834640"/>
            <a:ext cx="0" cy="822960"/>
          </a:xfrm>
          <a:prstGeom prst="line">
            <a:avLst/>
          </a:prstGeom>
          <a:noFill/>
          <a:ln w="19050">
            <a:solidFill>
              <a:srgbClr val="5B6B7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138160" y="3886200"/>
            <a:ext cx="2926080" cy="731520"/>
          </a:xfrm>
          <a:prstGeom prst="rect">
            <a:avLst/>
          </a:prstGeom>
          <a:solidFill>
            <a:srgbClr val="F2F2F2"/>
          </a:solidFill>
          <a:ln w="12700">
            <a:solidFill>
              <a:srgbClr val="D5D9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8160" y="388620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 VirtualService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(routes the traffic)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75120" y="49377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port: 443, hosts: ["reviews.example.com"]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675120" y="4846320"/>
            <a:ext cx="4663440" cy="5486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7" name="Text 15"/>
          <p:cNvSpPr/>
          <p:nvPr/>
        </p:nvSpPr>
        <p:spPr>
          <a:xfrm>
            <a:off x="6675120" y="484632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port: 443, hosts: ["reviews.example.com"]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675120" y="55778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matching VirtualService, a Gateway just opens a port — it forwards nothing.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Istio Traffic Management Basics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VirtualService — the Routing Rules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212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VirtualService says which requests go where. It matches on things like host, path, or headers, and sends matching traffic to one or more destinations — optionally split by weight.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3566160"/>
            <a:ext cx="52120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for traffic from a Gateway or from inside the mesh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requests: host, URL path, headers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to a host, optionally to a named subset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split traffic by weight (e.g. 90/10 canary)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0" y="1554480"/>
            <a:ext cx="5212080" cy="4480560"/>
          </a:xfrm>
          <a:prstGeom prst="rect">
            <a:avLst/>
          </a:prstGeom>
          <a:ln w="12700">
            <a:solidFill>
              <a:srgbClr val="D5D9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92440" y="2011680"/>
            <a:ext cx="1828800" cy="685800"/>
          </a:xfrm>
          <a:prstGeom prst="rect">
            <a:avLst/>
          </a:prstGeom>
          <a:solidFill>
            <a:srgbClr val="F2F2F2"/>
          </a:solidFill>
          <a:ln w="12700">
            <a:solidFill>
              <a:srgbClr val="D5D9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92440" y="201168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006840" y="2697480"/>
            <a:ext cx="0" cy="594360"/>
          </a:xfrm>
          <a:prstGeom prst="line">
            <a:avLst/>
          </a:prstGeom>
          <a:noFill/>
          <a:ln w="19050">
            <a:solidFill>
              <a:srgbClr val="5B6B7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635240" y="3383280"/>
            <a:ext cx="274320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D5D9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35240" y="338328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VirtualService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0" y="4069080"/>
            <a:ext cx="0" cy="502920"/>
          </a:xfrm>
          <a:prstGeom prst="line">
            <a:avLst/>
          </a:prstGeom>
          <a:noFill/>
          <a:ln w="19050">
            <a:solidFill>
              <a:srgbClr val="5B6B7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784080" y="4069080"/>
            <a:ext cx="0" cy="502920"/>
          </a:xfrm>
          <a:prstGeom prst="line">
            <a:avLst/>
          </a:prstGeom>
          <a:noFill/>
          <a:ln w="19050">
            <a:solidFill>
              <a:srgbClr val="5B6B73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949440" y="4663440"/>
            <a:ext cx="1463040" cy="594360"/>
          </a:xfrm>
          <a:prstGeom prst="rect">
            <a:avLst/>
          </a:prstGeom>
          <a:solidFill>
            <a:srgbClr val="F2F2F2"/>
          </a:solidFill>
          <a:ln w="12700">
            <a:solidFill>
              <a:srgbClr val="D5D9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0" y="466344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(90%)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44000" y="4663440"/>
            <a:ext cx="1463040" cy="594360"/>
          </a:xfrm>
          <a:prstGeom prst="rect">
            <a:avLst/>
          </a:prstGeom>
          <a:solidFill>
            <a:srgbClr val="F2F2F2"/>
          </a:solidFill>
          <a:ln w="12700">
            <a:solidFill>
              <a:srgbClr val="D5D9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0" y="466344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(10%)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75120" y="553212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match: path /reviews → route: subset v1 (90), subset v3 (10)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675120" y="5486400"/>
            <a:ext cx="4663440" cy="5486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0" name="Text 18"/>
          <p:cNvSpPr/>
          <p:nvPr/>
        </p:nvSpPr>
        <p:spPr>
          <a:xfrm>
            <a:off x="6675120" y="548640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match: path /reviews → route: subset v1 (90), subset v3 (10)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Istio Traffic Management Basics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DestinationRule — the Fine Print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212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DestinationRule applies after routing has already chosen a destination. It defines named subsets (usually by pod label) and policies like load balancing or TLS for reaching them.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3566160"/>
            <a:ext cx="52120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subsets: named groups of pods by label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VirtualService can only route to a subset that exists here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sets connection pool, outlier detection, TLS policy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to one host, reused by every VirtualService for it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0" y="1554480"/>
            <a:ext cx="5212080" cy="4480560"/>
          </a:xfrm>
          <a:prstGeom prst="rect">
            <a:avLst/>
          </a:prstGeom>
          <a:ln w="12700">
            <a:solidFill>
              <a:srgbClr val="D5D9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92440" y="2011680"/>
            <a:ext cx="1828800" cy="685800"/>
          </a:xfrm>
          <a:prstGeom prst="rect">
            <a:avLst/>
          </a:prstGeom>
          <a:solidFill>
            <a:srgbClr val="F2F2F2"/>
          </a:solidFill>
          <a:ln w="12700">
            <a:solidFill>
              <a:srgbClr val="D5D9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92440" y="201168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(service)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006840" y="2697480"/>
            <a:ext cx="0" cy="548640"/>
          </a:xfrm>
          <a:prstGeom prst="line">
            <a:avLst/>
          </a:prstGeom>
          <a:noFill/>
          <a:ln w="19050">
            <a:solidFill>
              <a:srgbClr val="5B6B7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635240" y="3337560"/>
            <a:ext cx="274320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D5D9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35240" y="33375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DestinationRule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680960" y="3977640"/>
            <a:ext cx="0" cy="457200"/>
          </a:xfrm>
          <a:prstGeom prst="line">
            <a:avLst/>
          </a:prstGeom>
          <a:noFill/>
          <a:ln w="19050">
            <a:solidFill>
              <a:srgbClr val="5B6B7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006840" y="3977640"/>
            <a:ext cx="0" cy="457200"/>
          </a:xfrm>
          <a:prstGeom prst="line">
            <a:avLst/>
          </a:prstGeom>
          <a:noFill/>
          <a:ln w="19050">
            <a:solidFill>
              <a:srgbClr val="5B6B73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0332720" y="3977640"/>
            <a:ext cx="0" cy="457200"/>
          </a:xfrm>
          <a:prstGeom prst="line">
            <a:avLst/>
          </a:prstGeom>
          <a:noFill/>
          <a:ln w="19050">
            <a:solidFill>
              <a:srgbClr val="5B6B73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040880" y="4480560"/>
            <a:ext cx="1280160" cy="594360"/>
          </a:xfrm>
          <a:prstGeom prst="rect">
            <a:avLst/>
          </a:prstGeom>
          <a:solidFill>
            <a:srgbClr val="F2F2F2"/>
          </a:solidFill>
          <a:ln w="12700">
            <a:solidFill>
              <a:srgbClr val="D5D9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448056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subset: v1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366760" y="4480560"/>
            <a:ext cx="1280160" cy="594360"/>
          </a:xfrm>
          <a:prstGeom prst="rect">
            <a:avLst/>
          </a:prstGeom>
          <a:solidFill>
            <a:srgbClr val="F2F2F2"/>
          </a:solidFill>
          <a:ln w="12700">
            <a:solidFill>
              <a:srgbClr val="D5D9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66760" y="448056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subset: v2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692640" y="4480560"/>
            <a:ext cx="1280160" cy="594360"/>
          </a:xfrm>
          <a:prstGeom prst="rect">
            <a:avLst/>
          </a:prstGeom>
          <a:solidFill>
            <a:srgbClr val="F2F2F2"/>
          </a:solidFill>
          <a:ln w="12700">
            <a:solidFill>
              <a:srgbClr val="D5D9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92640" y="448056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subset: v3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675120" y="5349240"/>
            <a:ext cx="4663440" cy="6858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0" y="534924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labels: { version: v1 }   labels: { version: v2 }   labels: { version: v3 }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Istio Traffic Management Basics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 FIT TOGETHER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Request, Three Decisions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54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971800" y="155448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it answers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06640" y="155448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configures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11064240" cy="1234440"/>
          </a:xfrm>
          <a:prstGeom prst="rect">
            <a:avLst/>
          </a:prstGeom>
          <a:solidFill>
            <a:srgbClr val="F2F2F2"/>
          </a:solidFill>
          <a:ln w="9525">
            <a:solidFill>
              <a:srgbClr val="D5D9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011680"/>
            <a:ext cx="1828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971800" y="2011680"/>
            <a:ext cx="4069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this traffic be let into the mesh at all?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406640" y="2011680"/>
            <a:ext cx="4069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ports, hosts, and TLS settings are exposed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110642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246120"/>
            <a:ext cx="1828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VirtualService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971800" y="3246120"/>
            <a:ext cx="4069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this request, where should it go?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406640" y="3246120"/>
            <a:ext cx="4069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rules and weighted routes to a host / subset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480560"/>
            <a:ext cx="11064240" cy="1234440"/>
          </a:xfrm>
          <a:prstGeom prst="rect">
            <a:avLst/>
          </a:prstGeom>
          <a:solidFill>
            <a:srgbClr val="F2F2F2"/>
          </a:solidFill>
          <a:ln w="9525">
            <a:solidFill>
              <a:srgbClr val="D5D9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480560"/>
            <a:ext cx="1828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DestinationRule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971800" y="4480560"/>
            <a:ext cx="4069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that a destination is chosen, how do we reach it?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406640" y="4480560"/>
            <a:ext cx="4069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subsets and connection policies for that host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request typically passes through Gateway → VirtualService → DestinationRule, in that order.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Istio Traffic Management Basics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Objects, in Plain Terms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280160" y="1920240"/>
            <a:ext cx="9601200" cy="1188720"/>
          </a:xfrm>
          <a:prstGeom prst="rect">
            <a:avLst/>
          </a:prstGeom>
          <a:solidFill>
            <a:srgbClr val="F2F2F2"/>
          </a:solidFill>
          <a:ln w="12700">
            <a:solidFill>
              <a:srgbClr val="D5D9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0" y="192024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Gateway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754880" y="1920240"/>
            <a:ext cx="5760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“Let this traffic into the cluster.”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280160" y="3337560"/>
            <a:ext cx="9601200" cy="1188720"/>
          </a:xfrm>
          <a:prstGeom prst="rect">
            <a:avLst/>
          </a:prstGeom>
          <a:solidFill>
            <a:srgbClr val="F2F2F2"/>
          </a:solidFill>
          <a:ln w="12700">
            <a:solidFill>
              <a:srgbClr val="D5D9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0" y="333756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VirtualService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754880" y="3337560"/>
            <a:ext cx="5760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“Send this traffic to that destination.”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280160" y="4754880"/>
            <a:ext cx="9601200" cy="1188720"/>
          </a:xfrm>
          <a:prstGeom prst="rect">
            <a:avLst/>
          </a:prstGeom>
          <a:solidFill>
            <a:srgbClr val="F2F2F2"/>
          </a:solidFill>
          <a:ln w="12700">
            <a:solidFill>
              <a:srgbClr val="D5D9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0" y="475488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DestinationRule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54880" y="4754880"/>
            <a:ext cx="5760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“Here’s how that destination is organized.”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Istio Traffic Management Basics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2026-08-14T06:50:10Z</dcterms:created>
  <dcterms:modified xsi:type="dcterms:W3CDTF">2026-08-14T06:50:10Z</dcterms:modified>
</cp:coreProperties>
</file>