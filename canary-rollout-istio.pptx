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005840"/>
            <a:ext cx="3657600" cy="3657600"/>
          </a:xfrm>
          <a:prstGeom prst="ellipse">
            <a:avLst/>
          </a:prstGeom>
          <a:solidFill>
            <a:srgbClr val="EAF2F6"/>
          </a:solidFill>
          <a:ln/>
        </p:spPr>
      </p:sp>
      <p:sp>
        <p:nvSpPr>
          <p:cNvPr id="3" name="Shape 1"/>
          <p:cNvSpPr/>
          <p:nvPr/>
        </p:nvSpPr>
        <p:spPr>
          <a:xfrm>
            <a:off x="11247120" y="5120640"/>
            <a:ext cx="2377440" cy="2377440"/>
          </a:xfrm>
          <a:prstGeom prst="ellipse">
            <a:avLst/>
          </a:prstGeom>
          <a:solidFill>
            <a:srgbClr val="EAF2F6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965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ISTIO TRAFFIC MANAGEMENT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2331720"/>
            <a:ext cx="9875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Canary Rollout with a VirtualService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370332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Controlling the split across reviews-v1 / v2 / v3 with a DestinationRule and a weighted VirtualService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4754880"/>
            <a:ext cx="1874520" cy="822960"/>
          </a:xfrm>
          <a:prstGeom prst="roundRect">
            <a:avLst>
              <a:gd name="adj" fmla="val 13333"/>
            </a:avLst>
          </a:prstGeom>
          <a:solidFill>
            <a:srgbClr val="EAF2F6"/>
          </a:solidFill>
          <a:ln/>
        </p:spPr>
      </p:sp>
      <p:sp>
        <p:nvSpPr>
          <p:cNvPr id="8" name="Shape 6"/>
          <p:cNvSpPr/>
          <p:nvPr/>
        </p:nvSpPr>
        <p:spPr>
          <a:xfrm>
            <a:off x="804672" y="4919472"/>
            <a:ext cx="493776" cy="49377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804672" y="4919472"/>
            <a:ext cx="4937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389888" y="475488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reviews-v1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788920" y="4754880"/>
            <a:ext cx="1874520" cy="822960"/>
          </a:xfrm>
          <a:prstGeom prst="roundRect">
            <a:avLst>
              <a:gd name="adj" fmla="val 13333"/>
            </a:avLst>
          </a:prstGeom>
          <a:solidFill>
            <a:srgbClr val="EAF2F6"/>
          </a:solidFill>
          <a:ln/>
        </p:spPr>
      </p:sp>
      <p:sp>
        <p:nvSpPr>
          <p:cNvPr id="12" name="Shape 10"/>
          <p:cNvSpPr/>
          <p:nvPr/>
        </p:nvSpPr>
        <p:spPr>
          <a:xfrm>
            <a:off x="2953512" y="4919472"/>
            <a:ext cx="493776" cy="49377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2953512" y="4919472"/>
            <a:ext cx="4937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538728" y="475488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reviews-v2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937760" y="4754880"/>
            <a:ext cx="1874520" cy="822960"/>
          </a:xfrm>
          <a:prstGeom prst="roundRect">
            <a:avLst>
              <a:gd name="adj" fmla="val 13333"/>
            </a:avLst>
          </a:prstGeom>
          <a:solidFill>
            <a:srgbClr val="EAF2F6"/>
          </a:solidFill>
          <a:ln/>
        </p:spPr>
      </p:sp>
      <p:sp>
        <p:nvSpPr>
          <p:cNvPr id="16" name="Shape 14"/>
          <p:cNvSpPr/>
          <p:nvPr/>
        </p:nvSpPr>
        <p:spPr>
          <a:xfrm>
            <a:off x="5102352" y="4919472"/>
            <a:ext cx="493776" cy="493776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17" name="Text 15"/>
          <p:cNvSpPr/>
          <p:nvPr/>
        </p:nvSpPr>
        <p:spPr>
          <a:xfrm>
            <a:off x="5102352" y="4919472"/>
            <a:ext cx="4937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687568" y="475488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reviews-v3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Canary Rollout with a VirtualService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Any Rule Exists: Even Round-Robin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51206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no VirtualService defined for a host, Istio's default is to load-balance evenly across every pod behind that Kubernetes Service — there is no way to control the split.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548640" y="3291840"/>
            <a:ext cx="51206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Service fronts pods labeled v1, v2, v3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Envoy sidecars split requests roughly 33/33/33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canary rollout means overriding this default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217920" y="1783080"/>
            <a:ext cx="5120640" cy="3977640"/>
          </a:xfrm>
          <a:prstGeom prst="roundRect">
            <a:avLst>
              <a:gd name="adj" fmla="val 2759"/>
            </a:avLst>
          </a:prstGeom>
          <a:ln w="25400">
            <a:solidFill>
              <a:srgbClr val="EAF2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92240" y="2057400"/>
            <a:ext cx="1828800" cy="640080"/>
          </a:xfrm>
          <a:prstGeom prst="roundRect">
            <a:avLst>
              <a:gd name="adj" fmla="val 14286"/>
            </a:avLst>
          </a:prstGeom>
          <a:solidFill>
            <a:srgbClr val="21295C"/>
          </a:solidFill>
          <a:ln/>
        </p:spPr>
      </p:sp>
      <p:sp>
        <p:nvSpPr>
          <p:cNvPr id="8" name="Text 6"/>
          <p:cNvSpPr/>
          <p:nvPr/>
        </p:nvSpPr>
        <p:spPr>
          <a:xfrm>
            <a:off x="6492240" y="20574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productpage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406640" y="2697480"/>
            <a:ext cx="0" cy="502920"/>
          </a:xfrm>
          <a:prstGeom prst="line">
            <a:avLst/>
          </a:prstGeom>
          <a:noFill/>
          <a:ln w="19050">
            <a:solidFill>
              <a:srgbClr val="B9C6C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92240" y="3200400"/>
            <a:ext cx="1828800" cy="640080"/>
          </a:xfrm>
          <a:prstGeom prst="roundRect">
            <a:avLst>
              <a:gd name="adj" fmla="val 14286"/>
            </a:avLst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32004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(svc)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406640" y="3840480"/>
            <a:ext cx="-1874520" cy="777240"/>
          </a:xfrm>
          <a:prstGeom prst="line">
            <a:avLst/>
          </a:prstGeom>
          <a:noFill/>
          <a:ln w="15875">
            <a:solidFill>
              <a:srgbClr val="B9C6C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46320" y="4617720"/>
            <a:ext cx="1371600" cy="640080"/>
          </a:xfrm>
          <a:prstGeom prst="roundRect">
            <a:avLst>
              <a:gd name="adj" fmla="val 14286"/>
            </a:avLst>
          </a:prstGeom>
          <a:solidFill>
            <a:srgbClr val="EAF2F6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461772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46320" y="5303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~33%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406640" y="3840480"/>
            <a:ext cx="0" cy="777240"/>
          </a:xfrm>
          <a:prstGeom prst="line">
            <a:avLst/>
          </a:prstGeom>
          <a:noFill/>
          <a:ln w="15875">
            <a:solidFill>
              <a:srgbClr val="B9C6C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20840" y="4617720"/>
            <a:ext cx="1371600" cy="640080"/>
          </a:xfrm>
          <a:prstGeom prst="roundRect">
            <a:avLst>
              <a:gd name="adj" fmla="val 14286"/>
            </a:avLst>
          </a:prstGeom>
          <a:solidFill>
            <a:srgbClr val="EAF2F6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20840" y="461772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720840" y="5303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~33%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406640" y="3840480"/>
            <a:ext cx="1874520" cy="777240"/>
          </a:xfrm>
          <a:prstGeom prst="line">
            <a:avLst/>
          </a:prstGeom>
          <a:noFill/>
          <a:ln w="15875">
            <a:solidFill>
              <a:srgbClr val="B9C6C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595360" y="4617720"/>
            <a:ext cx="1371600" cy="640080"/>
          </a:xfrm>
          <a:prstGeom prst="roundRect">
            <a:avLst>
              <a:gd name="adj" fmla="val 14286"/>
            </a:avLst>
          </a:prstGeom>
          <a:solidFill>
            <a:srgbClr val="EAF2F6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595360" y="461772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595360" y="5303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~33%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Canary Rollout with a VirtualService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DestinationRule — Define the Subsets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554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80160" y="1463040"/>
            <a:ext cx="44805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VirtualService can't route to v1 / v2 / v3 until Istio knows those versions exist as distinct, named subsets. The DestinationRule defines that grouping.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80160" y="2971800"/>
            <a:ext cx="44805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host: reviews — targets the Kubernetes Service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subset name (v1/v2/v3) maps to a version label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 must match the pod labels already on the deployments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first — the VirtualService depends on it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63640" y="1371600"/>
            <a:ext cx="5394960" cy="4572000"/>
          </a:xfrm>
          <a:prstGeom prst="roundRect">
            <a:avLst>
              <a:gd name="adj" fmla="val 2000"/>
            </a:avLst>
          </a:prstGeom>
          <a:solidFill>
            <a:srgbClr val="21295C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0" y="1645920"/>
            <a:ext cx="475488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F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apiVersion: networking.istio.io/v1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F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kind: DestinationRule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F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metadata: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F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name: reviews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F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namespace: bookinfo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F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spec: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F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host: reviews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F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subsets: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F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name: v1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F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labels: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F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version: v1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F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name: v2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F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labels: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F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version: v2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F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name: v3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F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labels: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F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version: v3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Canary Rollout with a VirtualService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VirtualService — Weighted Canary Split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554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80160" y="1463040"/>
            <a:ext cx="4480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subsets defined, the VirtualService assigns a percentage weight to each one — taking explicit control away from Istio's default even split.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280160" y="3063240"/>
            <a:ext cx="1828800" cy="594360"/>
          </a:xfrm>
          <a:prstGeom prst="roundRect">
            <a:avLst>
              <a:gd name="adj" fmla="val 15385"/>
            </a:avLst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1280160" y="306324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108960" y="3355848"/>
            <a:ext cx="1371600" cy="0"/>
          </a:xfrm>
          <a:prstGeom prst="line">
            <a:avLst/>
          </a:prstGeom>
          <a:noFill/>
          <a:ln w="50800">
            <a:solidFill>
              <a:srgbClr val="065A8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80560" y="2926080"/>
            <a:ext cx="1645920" cy="594360"/>
          </a:xfrm>
          <a:prstGeom prst="roundRect">
            <a:avLst>
              <a:gd name="adj" fmla="val 15385"/>
            </a:avLst>
          </a:prstGeom>
          <a:solidFill>
            <a:srgbClr val="EAF2F6"/>
          </a:solidFill>
          <a:ln w="15875">
            <a:solidFill>
              <a:srgbClr val="065A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80560" y="292608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— stable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480560" y="25603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108960" y="3355848"/>
            <a:ext cx="1371600" cy="960120"/>
          </a:xfrm>
          <a:prstGeom prst="line">
            <a:avLst/>
          </a:prstGeom>
          <a:noFill/>
          <a:ln w="19050">
            <a:solidFill>
              <a:srgbClr val="21295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80560" y="4114800"/>
            <a:ext cx="1645920" cy="594360"/>
          </a:xfrm>
          <a:prstGeom prst="roundRect">
            <a:avLst>
              <a:gd name="adj" fmla="val 15385"/>
            </a:avLst>
          </a:prstGeom>
          <a:solidFill>
            <a:srgbClr val="EAF2F6"/>
          </a:solidFill>
          <a:ln w="15875">
            <a:solidFill>
              <a:srgbClr val="2129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80560" y="411480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 — canary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480560" y="4727448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263640" y="1371600"/>
            <a:ext cx="5394960" cy="4572000"/>
          </a:xfrm>
          <a:prstGeom prst="roundRect">
            <a:avLst>
              <a:gd name="adj" fmla="val 2000"/>
            </a:avLst>
          </a:prstGeom>
          <a:solidFill>
            <a:srgbClr val="21295C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0" y="1645920"/>
            <a:ext cx="475488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F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apiVersion: networking.istio.io/v1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F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kind: VirtualService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F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metadata: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F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name: reviews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F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namespace: bookinfo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F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spec: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F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hosts: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F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reviews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F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http: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F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route: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F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 destination: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F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host: reviews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F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subset: v1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F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weight: 90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F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 destination: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F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host: reviews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F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subset: v3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F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weight: 10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Canary Rollout with a VirtualService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PUTTING IT TOGETHER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Objects, Two Jobs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074920" cy="3383280"/>
          </a:xfrm>
          <a:prstGeom prst="roundRect">
            <a:avLst>
              <a:gd name="adj" fmla="val 3243"/>
            </a:avLst>
          </a:prstGeom>
          <a:solidFill>
            <a:srgbClr val="EAF2F6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19456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1945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737360" y="2212848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737360" y="2487168"/>
            <a:ext cx="3611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DestinationRule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914400" y="3063240"/>
            <a:ext cx="4343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pods behind a Service into named subsets, using their existing version labels.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4023360"/>
            <a:ext cx="4343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Defines: v1, v2, v3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Keyed on pod labels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once, reused by many rules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080760" y="1828800"/>
            <a:ext cx="5074920" cy="3383280"/>
          </a:xfrm>
          <a:prstGeom prst="roundRect">
            <a:avLst>
              <a:gd name="adj" fmla="val 3243"/>
            </a:avLst>
          </a:prstGeom>
          <a:solidFill>
            <a:srgbClr val="EAF2F6"/>
          </a:solidFill>
          <a:ln/>
        </p:spPr>
      </p:sp>
      <p:sp>
        <p:nvSpPr>
          <p:cNvPr id="12" name="Shape 10"/>
          <p:cNvSpPr/>
          <p:nvPr/>
        </p:nvSpPr>
        <p:spPr>
          <a:xfrm>
            <a:off x="6446520" y="219456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6446520" y="21945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269480" y="2212848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269480" y="2487168"/>
            <a:ext cx="3611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VirtualService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6446520" y="3063240"/>
            <a:ext cx="4343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traffic across those subsets by percentage weight, overriding the default even split.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46520" y="4023360"/>
            <a:ext cx="4343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weight per subset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Editable anytime (kubectl patch)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Drives the canary rollout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48640" y="544068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Together: the VirtualService decides the percentages; the DestinationRule tells Envoy which pods each subset name actually means.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Canary Rollout with a VirtualService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WALKTHROUGH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Steps, Start to Finish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06040" cy="3657600"/>
          </a:xfrm>
          <a:prstGeom prst="roundRect">
            <a:avLst>
              <a:gd name="adj" fmla="val 4211"/>
            </a:avLst>
          </a:prstGeom>
          <a:solidFill>
            <a:srgbClr val="EAF2F6"/>
          </a:solidFill>
          <a:ln w="12700">
            <a:solidFill>
              <a:srgbClr val="EAF2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96596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65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77240" y="274320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Define Subsets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3429000"/>
            <a:ext cx="21488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DestinationRule so v1/v2/v3 exist as named, routable subsets.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108960" y="3291840"/>
            <a:ext cx="347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410712" y="1691640"/>
            <a:ext cx="2606040" cy="365760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9050">
            <a:solidFill>
              <a:srgbClr val="EAF2F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85032" y="196596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3685032" y="1965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639312" y="274320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Weighted Split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639312" y="3429000"/>
            <a:ext cx="21488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VirtualService: 90% to v1 (stable), 10% to v3 (canary).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971032" y="3291840"/>
            <a:ext cx="347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272784" y="1691640"/>
            <a:ext cx="2606040" cy="3657600"/>
          </a:xfrm>
          <a:prstGeom prst="roundRect">
            <a:avLst>
              <a:gd name="adj" fmla="val 4211"/>
            </a:avLst>
          </a:prstGeom>
          <a:solidFill>
            <a:srgbClr val="EAF2F6"/>
          </a:solidFill>
          <a:ln w="12700">
            <a:solidFill>
              <a:srgbClr val="EAF2F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47104" y="1965960"/>
            <a:ext cx="548640" cy="54864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18" name="Text 16"/>
          <p:cNvSpPr/>
          <p:nvPr/>
        </p:nvSpPr>
        <p:spPr>
          <a:xfrm>
            <a:off x="6547104" y="1965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501384" y="274320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Verify on the Sidecar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501384" y="3429000"/>
            <a:ext cx="21488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via istioctl proxy-config route — and a live curl-loop check.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833104" y="3291840"/>
            <a:ext cx="347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9134856" y="1691640"/>
            <a:ext cx="2606040" cy="365760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9050">
            <a:solidFill>
              <a:srgbClr val="EAF2F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409176" y="196596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4" name="Text 22"/>
          <p:cNvSpPr/>
          <p:nvPr/>
        </p:nvSpPr>
        <p:spPr>
          <a:xfrm>
            <a:off x="9409176" y="1965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363456" y="274320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Shift &amp; Roll Back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363456" y="3429000"/>
            <a:ext cx="21488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 weights progressively (90/10 → 75/25 → 50/50), or roll back to 100/0 instantly.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Canary Rollout with a VirtualService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Verify the Split Actually Landed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Applying YAML only proves the Kubernetes API accepted it — not that Envoy is enforcing it. Two checks confirm the rule reached the sidecar.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5349240" cy="3931920"/>
          </a:xfrm>
          <a:prstGeom prst="roundRect">
            <a:avLst>
              <a:gd name="adj" fmla="val 2791"/>
            </a:avLst>
          </a:prstGeom>
          <a:solidFill>
            <a:srgbClr val="EAF2F6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251460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514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514600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the xDS config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3154680"/>
            <a:ext cx="4709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the sidecar's live route table directly and look for the weighted clusters (v1: 90, v3: 10).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68680" y="3886200"/>
            <a:ext cx="4709160" cy="1554480"/>
          </a:xfrm>
          <a:prstGeom prst="roundRect">
            <a:avLst>
              <a:gd name="adj" fmla="val 4706"/>
            </a:avLst>
          </a:prstGeom>
          <a:solidFill>
            <a:srgbClr val="21295C"/>
          </a:solidFill>
          <a:ln/>
        </p:spPr>
      </p:sp>
      <p:sp>
        <p:nvSpPr>
          <p:cNvPr id="11" name="Text 9"/>
          <p:cNvSpPr/>
          <p:nvPr/>
        </p:nvSpPr>
        <p:spPr>
          <a:xfrm>
            <a:off x="1051560" y="4023360"/>
            <a:ext cx="4343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F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istioctl proxy-config route \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F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&lt;productpage-pod&gt; -n bookinfo \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F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--name 9080 -o json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09360" y="2194560"/>
            <a:ext cx="5349240" cy="3931920"/>
          </a:xfrm>
          <a:prstGeom prst="roundRect">
            <a:avLst>
              <a:gd name="adj" fmla="val 2791"/>
            </a:avLst>
          </a:prstGeom>
          <a:solidFill>
            <a:srgbClr val="EAF2F6"/>
          </a:solidFill>
          <a:ln/>
        </p:spPr>
      </p:sp>
      <p:sp>
        <p:nvSpPr>
          <p:cNvPr id="13" name="Shape 11"/>
          <p:cNvSpPr/>
          <p:nvPr/>
        </p:nvSpPr>
        <p:spPr>
          <a:xfrm>
            <a:off x="6629400" y="251460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6629400" y="2514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↻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315200" y="2514600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Confirm it empirically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629400" y="3154680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~20 requests to /productpage and tally which version's styling appears each time.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858000" y="4251960"/>
            <a:ext cx="822960" cy="12344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8" name="Text 16"/>
          <p:cNvSpPr/>
          <p:nvPr/>
        </p:nvSpPr>
        <p:spPr>
          <a:xfrm>
            <a:off x="6720840" y="395935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720840" y="5541264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801100" y="5349240"/>
            <a:ext cx="822960" cy="13716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21" name="Text 19"/>
          <p:cNvSpPr/>
          <p:nvPr/>
        </p:nvSpPr>
        <p:spPr>
          <a:xfrm>
            <a:off x="8663940" y="505663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663940" y="5541264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629400" y="5897880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9:1 ratio over 20 refreshes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Canary Rollout with a VirtualService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Shift Weights Progressively, Then Roll Back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Re-apply (or kubectl patch) the VirtualService with new weights to ramp the canary up — or send 100% back to the stable subset to roll back instantly.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005840" y="2468880"/>
            <a:ext cx="10149840" cy="0"/>
          </a:xfrm>
          <a:prstGeom prst="line">
            <a:avLst/>
          </a:prstGeom>
          <a:noFill/>
          <a:ln w="50800">
            <a:solidFill>
              <a:srgbClr val="EAF2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" y="2267712"/>
            <a:ext cx="402336" cy="402336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27889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/ 10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82880" y="31546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canary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87952" y="2267712"/>
            <a:ext cx="402336" cy="402336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66160" y="27889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 / 25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566160" y="31546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ramping up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571232" y="2267712"/>
            <a:ext cx="402336" cy="402336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49440" y="27889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/ 50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949440" y="31546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split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0954512" y="2267712"/>
            <a:ext cx="402336" cy="402336"/>
          </a:xfrm>
          <a:prstGeom prst="ellipse">
            <a:avLst/>
          </a:prstGeom>
          <a:solidFill>
            <a:srgbClr val="FFFFFF"/>
          </a:solidFill>
          <a:ln w="38100">
            <a:solidFill>
              <a:srgbClr val="2129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332720" y="27889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/ 0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332720" y="31546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rollback to stable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4023360"/>
            <a:ext cx="11064240" cy="1965960"/>
          </a:xfrm>
          <a:prstGeom prst="roundRect">
            <a:avLst>
              <a:gd name="adj" fmla="val 4651"/>
            </a:avLst>
          </a:prstGeom>
          <a:solidFill>
            <a:srgbClr val="21295C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42062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F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back to 100% stable, instantly: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68680" y="4572000"/>
            <a:ext cx="10424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patch virtualservice reviews -n bookinfo --type merge -p \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'{"spec":{"http":[{"route":[{"destination":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{"host":"reviews","subset":"v1"},"weight":100}]}]}}'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48640" y="617220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manual weight-shift is exactly what progressive-delivery tools like Flagger or Argo Rollouts automate.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Canary Rollout with a VirtualService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EAF2F6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121408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1214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08760" y="1938528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Subsets before routing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508760" y="2304288"/>
            <a:ext cx="4160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VirtualService can only target versions that a DestinationRule has already named as subsets.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63640" y="173736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EAF2F6"/>
          </a:solidFill>
          <a:ln/>
        </p:spPr>
      </p:sp>
      <p:sp>
        <p:nvSpPr>
          <p:cNvPr id="10" name="Shape 8"/>
          <p:cNvSpPr/>
          <p:nvPr/>
        </p:nvSpPr>
        <p:spPr>
          <a:xfrm>
            <a:off x="6537960" y="2121408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21214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223760" y="1938528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Default = even split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223760" y="2304288"/>
            <a:ext cx="4160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no VirtualService, Istio round-robins evenly — applying one is what takes control of the split.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47472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EAF2F6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3858768"/>
            <a:ext cx="502920" cy="50292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85876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508760" y="3675888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Trust, but verify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508760" y="4041648"/>
            <a:ext cx="4160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kubectl apply confirms the API accepted the rule; istioctl proxy-config confirms Envoy is enforcing it.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63640" y="347472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EAF2F6"/>
          </a:solidFill>
          <a:ln/>
        </p:spPr>
      </p:sp>
      <p:sp>
        <p:nvSpPr>
          <p:cNvPr id="20" name="Shape 18"/>
          <p:cNvSpPr/>
          <p:nvPr/>
        </p:nvSpPr>
        <p:spPr>
          <a:xfrm>
            <a:off x="6537960" y="3858768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1" name="Text 19"/>
          <p:cNvSpPr/>
          <p:nvPr/>
        </p:nvSpPr>
        <p:spPr>
          <a:xfrm>
            <a:off x="6537960" y="385876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223760" y="3675888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Weights are just data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223760" y="4041648"/>
            <a:ext cx="4160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Ramping up or rolling back is only ever a matter of patching the weight values — no redeploys needed.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Canary Rollout with a VirtualService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2026-08-14T05:10:13Z</dcterms:created>
  <dcterms:modified xsi:type="dcterms:W3CDTF">2026-08-14T05:10:13Z</dcterms:modified>
</cp:coreProperties>
</file>